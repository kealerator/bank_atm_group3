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3BC412-2B16-4DB1-9620-58BC4431766F}" v="115" dt="2026-02-20T13:40:28.989"/>
    <p1510:client id="{B6E350D7-B508-74D0-99FB-1CC652B39D46}" v="559" dt="2026-02-20T13:34:22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1D8942-9AAE-4946-BD90-1C07FEF8B32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3352C8F-D851-40B3-926D-EF9695B7CE4E}">
      <dgm:prSet/>
      <dgm:spPr/>
      <dgm:t>
        <a:bodyPr/>
        <a:lstStyle/>
        <a:p>
          <a:r>
            <a:rPr lang="en-US" dirty="0"/>
            <a:t>Jermu Huttunen: Backend, CRUD-</a:t>
          </a:r>
          <a:r>
            <a:rPr lang="en-US" dirty="0" err="1"/>
            <a:t>operaatiot</a:t>
          </a:r>
          <a:r>
            <a:rPr lang="en-US" dirty="0"/>
            <a:t>, Qt-</a:t>
          </a:r>
          <a:r>
            <a:rPr lang="en-US" dirty="0" err="1"/>
            <a:t>sovelluksen</a:t>
          </a:r>
          <a:r>
            <a:rPr lang="en-US" dirty="0"/>
            <a:t> </a:t>
          </a:r>
          <a:r>
            <a:rPr lang="en-US" dirty="0" err="1"/>
            <a:t>tilitapahtumat</a:t>
          </a:r>
          <a:r>
            <a:rPr lang="en-US" dirty="0"/>
            <a:t> </a:t>
          </a:r>
          <a:r>
            <a:rPr lang="en-US" dirty="0" err="1"/>
            <a:t>osio</a:t>
          </a:r>
          <a:r>
            <a:rPr lang="en-US" dirty="0"/>
            <a:t>.</a:t>
          </a:r>
        </a:p>
      </dgm:t>
    </dgm:pt>
    <dgm:pt modelId="{486AEF05-7BEB-4C97-BE6C-D17DEE2B600B}" type="parTrans" cxnId="{7175202A-E8C5-4E8A-BBBE-C3444DFF0A1F}">
      <dgm:prSet/>
      <dgm:spPr/>
      <dgm:t>
        <a:bodyPr/>
        <a:lstStyle/>
        <a:p>
          <a:endParaRPr lang="en-US"/>
        </a:p>
      </dgm:t>
    </dgm:pt>
    <dgm:pt modelId="{F9AF47AE-8190-4305-95EC-B4E5B65D025F}" type="sibTrans" cxnId="{7175202A-E8C5-4E8A-BBBE-C3444DFF0A1F}">
      <dgm:prSet/>
      <dgm:spPr/>
      <dgm:t>
        <a:bodyPr/>
        <a:lstStyle/>
        <a:p>
          <a:endParaRPr lang="en-US"/>
        </a:p>
      </dgm:t>
    </dgm:pt>
    <dgm:pt modelId="{8C76B1CF-66F4-4DF1-986E-E8DFB0572CAD}">
      <dgm:prSet/>
      <dgm:spPr/>
      <dgm:t>
        <a:bodyPr/>
        <a:lstStyle/>
        <a:p>
          <a:r>
            <a:rPr lang="en-US"/>
            <a:t>Matti Rundelin: Backend, CRUD-operaatiot, Qt-sovelluksen login ja UI design.</a:t>
          </a:r>
        </a:p>
      </dgm:t>
    </dgm:pt>
    <dgm:pt modelId="{606FE08B-796E-4A7D-91BF-15D369BCF13B}" type="parTrans" cxnId="{BE1767AB-AF5A-49A6-9B45-4278C273C57E}">
      <dgm:prSet/>
      <dgm:spPr/>
      <dgm:t>
        <a:bodyPr/>
        <a:lstStyle/>
        <a:p>
          <a:endParaRPr lang="en-US"/>
        </a:p>
      </dgm:t>
    </dgm:pt>
    <dgm:pt modelId="{9EED59D0-2F41-4966-9DA0-C1B3B81282B5}" type="sibTrans" cxnId="{BE1767AB-AF5A-49A6-9B45-4278C273C57E}">
      <dgm:prSet/>
      <dgm:spPr/>
      <dgm:t>
        <a:bodyPr/>
        <a:lstStyle/>
        <a:p>
          <a:endParaRPr lang="en-US"/>
        </a:p>
      </dgm:t>
    </dgm:pt>
    <dgm:pt modelId="{20521BED-7DAF-4DAD-9A50-A4B6131A30FE}">
      <dgm:prSet/>
      <dgm:spPr/>
      <dgm:t>
        <a:bodyPr/>
        <a:lstStyle/>
        <a:p>
          <a:r>
            <a:rPr lang="en-US"/>
            <a:t>Sander Vassel: Backend, CRUD-operaatiot, Qt-sovelluksen nosto osio.</a:t>
          </a:r>
        </a:p>
      </dgm:t>
    </dgm:pt>
    <dgm:pt modelId="{42115778-722F-4094-AF0E-E07FE16E25EF}" type="parTrans" cxnId="{5CFEC912-D1C5-42B6-BE63-4ECF9E91D118}">
      <dgm:prSet/>
      <dgm:spPr/>
      <dgm:t>
        <a:bodyPr/>
        <a:lstStyle/>
        <a:p>
          <a:endParaRPr lang="en-US"/>
        </a:p>
      </dgm:t>
    </dgm:pt>
    <dgm:pt modelId="{D469F9DC-4E00-42CF-9155-17ED3DA0E6F1}" type="sibTrans" cxnId="{5CFEC912-D1C5-42B6-BE63-4ECF9E91D118}">
      <dgm:prSet/>
      <dgm:spPr/>
      <dgm:t>
        <a:bodyPr/>
        <a:lstStyle/>
        <a:p>
          <a:endParaRPr lang="en-US"/>
        </a:p>
      </dgm:t>
    </dgm:pt>
    <dgm:pt modelId="{7434186A-BC79-49FE-9276-AE177CFB198E}">
      <dgm:prSet/>
      <dgm:spPr/>
      <dgm:t>
        <a:bodyPr/>
        <a:lstStyle/>
        <a:p>
          <a:r>
            <a:rPr lang="en-US"/>
            <a:t>Riku Ängeslevä: Backend, CRUD-operaatiot, Qt-sovelluksen saldo ja asiakastiedot osio.</a:t>
          </a:r>
        </a:p>
      </dgm:t>
    </dgm:pt>
    <dgm:pt modelId="{81B302B6-116B-44D0-94AD-75054C1C68F0}" type="parTrans" cxnId="{D99EE53F-65A6-461B-A468-2292466580FE}">
      <dgm:prSet/>
      <dgm:spPr/>
      <dgm:t>
        <a:bodyPr/>
        <a:lstStyle/>
        <a:p>
          <a:endParaRPr lang="en-US"/>
        </a:p>
      </dgm:t>
    </dgm:pt>
    <dgm:pt modelId="{F4A73DBE-F1CA-4734-ABAF-1A8B0072FF84}" type="sibTrans" cxnId="{D99EE53F-65A6-461B-A468-2292466580FE}">
      <dgm:prSet/>
      <dgm:spPr/>
      <dgm:t>
        <a:bodyPr/>
        <a:lstStyle/>
        <a:p>
          <a:endParaRPr lang="en-US"/>
        </a:p>
      </dgm:t>
    </dgm:pt>
    <dgm:pt modelId="{97172306-61D2-4BB4-94A0-8421A235FEF6}" type="pres">
      <dgm:prSet presAssocID="{601D8942-9AAE-4946-BD90-1C07FEF8B329}" presName="matrix" presStyleCnt="0">
        <dgm:presLayoutVars>
          <dgm:chMax val="1"/>
          <dgm:dir/>
          <dgm:resizeHandles val="exact"/>
        </dgm:presLayoutVars>
      </dgm:prSet>
      <dgm:spPr/>
    </dgm:pt>
    <dgm:pt modelId="{C1EF3C11-4E5F-484E-8F28-E5D4C40D4E5A}" type="pres">
      <dgm:prSet presAssocID="{601D8942-9AAE-4946-BD90-1C07FEF8B329}" presName="diamond" presStyleLbl="bgShp" presStyleIdx="0" presStyleCnt="1"/>
      <dgm:spPr/>
    </dgm:pt>
    <dgm:pt modelId="{243916DF-DBD5-4453-8AE6-3403E254E3CC}" type="pres">
      <dgm:prSet presAssocID="{601D8942-9AAE-4946-BD90-1C07FEF8B32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5AB9C02-A5E5-4BA8-A624-6DF5070D33D1}" type="pres">
      <dgm:prSet presAssocID="{601D8942-9AAE-4946-BD90-1C07FEF8B32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2499E5D-0BD7-45D3-9B63-3279BD3F8449}" type="pres">
      <dgm:prSet presAssocID="{601D8942-9AAE-4946-BD90-1C07FEF8B32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8DFC695-04EF-4C8E-ADF9-7FCC10EB61CC}" type="pres">
      <dgm:prSet presAssocID="{601D8942-9AAE-4946-BD90-1C07FEF8B32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A1D8510-6D5D-4E51-BB8A-BE1CD75DA012}" type="presOf" srcId="{8C76B1CF-66F4-4DF1-986E-E8DFB0572CAD}" destId="{75AB9C02-A5E5-4BA8-A624-6DF5070D33D1}" srcOrd="0" destOrd="0" presId="urn:microsoft.com/office/officeart/2005/8/layout/matrix3"/>
    <dgm:cxn modelId="{5CFEC912-D1C5-42B6-BE63-4ECF9E91D118}" srcId="{601D8942-9AAE-4946-BD90-1C07FEF8B329}" destId="{20521BED-7DAF-4DAD-9A50-A4B6131A30FE}" srcOrd="2" destOrd="0" parTransId="{42115778-722F-4094-AF0E-E07FE16E25EF}" sibTransId="{D469F9DC-4E00-42CF-9155-17ED3DA0E6F1}"/>
    <dgm:cxn modelId="{7175202A-E8C5-4E8A-BBBE-C3444DFF0A1F}" srcId="{601D8942-9AAE-4946-BD90-1C07FEF8B329}" destId="{63352C8F-D851-40B3-926D-EF9695B7CE4E}" srcOrd="0" destOrd="0" parTransId="{486AEF05-7BEB-4C97-BE6C-D17DEE2B600B}" sibTransId="{F9AF47AE-8190-4305-95EC-B4E5B65D025F}"/>
    <dgm:cxn modelId="{D99EE53F-65A6-461B-A468-2292466580FE}" srcId="{601D8942-9AAE-4946-BD90-1C07FEF8B329}" destId="{7434186A-BC79-49FE-9276-AE177CFB198E}" srcOrd="3" destOrd="0" parTransId="{81B302B6-116B-44D0-94AD-75054C1C68F0}" sibTransId="{F4A73DBE-F1CA-4734-ABAF-1A8B0072FF84}"/>
    <dgm:cxn modelId="{6D332F6E-BE5A-47AB-9140-4D7E2B061083}" type="presOf" srcId="{601D8942-9AAE-4946-BD90-1C07FEF8B329}" destId="{97172306-61D2-4BB4-94A0-8421A235FEF6}" srcOrd="0" destOrd="0" presId="urn:microsoft.com/office/officeart/2005/8/layout/matrix3"/>
    <dgm:cxn modelId="{FAB9F593-B150-4222-94CB-82DA4EA7BFE9}" type="presOf" srcId="{63352C8F-D851-40B3-926D-EF9695B7CE4E}" destId="{243916DF-DBD5-4453-8AE6-3403E254E3CC}" srcOrd="0" destOrd="0" presId="urn:microsoft.com/office/officeart/2005/8/layout/matrix3"/>
    <dgm:cxn modelId="{BE1767AB-AF5A-49A6-9B45-4278C273C57E}" srcId="{601D8942-9AAE-4946-BD90-1C07FEF8B329}" destId="{8C76B1CF-66F4-4DF1-986E-E8DFB0572CAD}" srcOrd="1" destOrd="0" parTransId="{606FE08B-796E-4A7D-91BF-15D369BCF13B}" sibTransId="{9EED59D0-2F41-4966-9DA0-C1B3B81282B5}"/>
    <dgm:cxn modelId="{F4E595B8-0720-4B75-A22C-B3F24C21C4BB}" type="presOf" srcId="{20521BED-7DAF-4DAD-9A50-A4B6131A30FE}" destId="{C2499E5D-0BD7-45D3-9B63-3279BD3F8449}" srcOrd="0" destOrd="0" presId="urn:microsoft.com/office/officeart/2005/8/layout/matrix3"/>
    <dgm:cxn modelId="{EE3DA8DF-4515-4FC7-8E9A-BB574608D3EA}" type="presOf" srcId="{7434186A-BC79-49FE-9276-AE177CFB198E}" destId="{78DFC695-04EF-4C8E-ADF9-7FCC10EB61CC}" srcOrd="0" destOrd="0" presId="urn:microsoft.com/office/officeart/2005/8/layout/matrix3"/>
    <dgm:cxn modelId="{134CF36C-4C54-4902-A2A5-2CA6FC74B1DA}" type="presParOf" srcId="{97172306-61D2-4BB4-94A0-8421A235FEF6}" destId="{C1EF3C11-4E5F-484E-8F28-E5D4C40D4E5A}" srcOrd="0" destOrd="0" presId="urn:microsoft.com/office/officeart/2005/8/layout/matrix3"/>
    <dgm:cxn modelId="{0A182A86-A32D-4BC0-A089-F4DBE6164C68}" type="presParOf" srcId="{97172306-61D2-4BB4-94A0-8421A235FEF6}" destId="{243916DF-DBD5-4453-8AE6-3403E254E3CC}" srcOrd="1" destOrd="0" presId="urn:microsoft.com/office/officeart/2005/8/layout/matrix3"/>
    <dgm:cxn modelId="{1140FBB2-7A92-4029-9DF6-6CF7845ED318}" type="presParOf" srcId="{97172306-61D2-4BB4-94A0-8421A235FEF6}" destId="{75AB9C02-A5E5-4BA8-A624-6DF5070D33D1}" srcOrd="2" destOrd="0" presId="urn:microsoft.com/office/officeart/2005/8/layout/matrix3"/>
    <dgm:cxn modelId="{D2625C03-BB4E-46D6-89B6-A36C6FD7A558}" type="presParOf" srcId="{97172306-61D2-4BB4-94A0-8421A235FEF6}" destId="{C2499E5D-0BD7-45D3-9B63-3279BD3F8449}" srcOrd="3" destOrd="0" presId="urn:microsoft.com/office/officeart/2005/8/layout/matrix3"/>
    <dgm:cxn modelId="{6652244A-C24D-4EC6-B244-E79A32D3C1F5}" type="presParOf" srcId="{97172306-61D2-4BB4-94A0-8421A235FEF6}" destId="{78DFC695-04EF-4C8E-ADF9-7FCC10EB61C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F3C11-4E5F-484E-8F28-E5D4C40D4E5A}">
      <dsp:nvSpPr>
        <dsp:cNvPr id="0" name=""/>
        <dsp:cNvSpPr/>
      </dsp:nvSpPr>
      <dsp:spPr>
        <a:xfrm>
          <a:off x="827531" y="0"/>
          <a:ext cx="4965192" cy="496519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916DF-DBD5-4453-8AE6-3403E254E3CC}">
      <dsp:nvSpPr>
        <dsp:cNvPr id="0" name=""/>
        <dsp:cNvSpPr/>
      </dsp:nvSpPr>
      <dsp:spPr>
        <a:xfrm>
          <a:off x="1299225" y="471693"/>
          <a:ext cx="1936424" cy="19364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Jermu Huttunen: Backend, CRUD-</a:t>
          </a:r>
          <a:r>
            <a:rPr lang="en-US" sz="1600" kern="1200" dirty="0" err="1"/>
            <a:t>operaatiot</a:t>
          </a:r>
          <a:r>
            <a:rPr lang="en-US" sz="1600" kern="1200" dirty="0"/>
            <a:t>, Qt-</a:t>
          </a:r>
          <a:r>
            <a:rPr lang="en-US" sz="1600" kern="1200" dirty="0" err="1"/>
            <a:t>sovelluksen</a:t>
          </a:r>
          <a:r>
            <a:rPr lang="en-US" sz="1600" kern="1200" dirty="0"/>
            <a:t> </a:t>
          </a:r>
          <a:r>
            <a:rPr lang="en-US" sz="1600" kern="1200" dirty="0" err="1"/>
            <a:t>tilitapahtumat</a:t>
          </a:r>
          <a:r>
            <a:rPr lang="en-US" sz="1600" kern="1200" dirty="0"/>
            <a:t> </a:t>
          </a:r>
          <a:r>
            <a:rPr lang="en-US" sz="1600" kern="1200" dirty="0" err="1"/>
            <a:t>osio</a:t>
          </a:r>
          <a:r>
            <a:rPr lang="en-US" sz="1600" kern="1200" dirty="0"/>
            <a:t>.</a:t>
          </a:r>
        </a:p>
      </dsp:txBody>
      <dsp:txXfrm>
        <a:off x="1393753" y="566221"/>
        <a:ext cx="1747368" cy="1747368"/>
      </dsp:txXfrm>
    </dsp:sp>
    <dsp:sp modelId="{75AB9C02-A5E5-4BA8-A624-6DF5070D33D1}">
      <dsp:nvSpPr>
        <dsp:cNvPr id="0" name=""/>
        <dsp:cNvSpPr/>
      </dsp:nvSpPr>
      <dsp:spPr>
        <a:xfrm>
          <a:off x="3384605" y="471693"/>
          <a:ext cx="1936424" cy="193642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Matti Rundelin: Backend, CRUD-operaatiot, Qt-sovelluksen login ja UI design.</a:t>
          </a:r>
        </a:p>
      </dsp:txBody>
      <dsp:txXfrm>
        <a:off x="3479133" y="566221"/>
        <a:ext cx="1747368" cy="1747368"/>
      </dsp:txXfrm>
    </dsp:sp>
    <dsp:sp modelId="{C2499E5D-0BD7-45D3-9B63-3279BD3F8449}">
      <dsp:nvSpPr>
        <dsp:cNvPr id="0" name=""/>
        <dsp:cNvSpPr/>
      </dsp:nvSpPr>
      <dsp:spPr>
        <a:xfrm>
          <a:off x="1299225" y="2557073"/>
          <a:ext cx="1936424" cy="193642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Sander Vassel: Backend, CRUD-operaatiot, Qt-sovelluksen nosto osio.</a:t>
          </a:r>
        </a:p>
      </dsp:txBody>
      <dsp:txXfrm>
        <a:off x="1393753" y="2651601"/>
        <a:ext cx="1747368" cy="1747368"/>
      </dsp:txXfrm>
    </dsp:sp>
    <dsp:sp modelId="{78DFC695-04EF-4C8E-ADF9-7FCC10EB61CC}">
      <dsp:nvSpPr>
        <dsp:cNvPr id="0" name=""/>
        <dsp:cNvSpPr/>
      </dsp:nvSpPr>
      <dsp:spPr>
        <a:xfrm>
          <a:off x="3384605" y="2557073"/>
          <a:ext cx="1936424" cy="19364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Riku Ängeslevä: Backend, CRUD-operaatiot, Qt-sovelluksen saldo ja asiakastiedot osio.</a:t>
          </a:r>
        </a:p>
      </dsp:txBody>
      <dsp:txXfrm>
        <a:off x="3479133" y="2651601"/>
        <a:ext cx="1747368" cy="1747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5302F-D276-4B35-894F-44762F88202F}" type="datetimeFigureOut">
              <a:rPr lang="fi-FI" smtClean="0"/>
              <a:t>24.2.2026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461770-40F0-4FFF-BC2F-F8F3CC6141F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31603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461770-40F0-4FFF-BC2F-F8F3CC6141F0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2472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1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3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86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2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8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0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91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5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9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1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8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0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85" r:id="rId4"/>
    <p:sldLayoutId id="2147483686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Värillinen Lyijy kyniä-kohteen sisäpuolella Lyijy kynä, joka on puu-taulukon päällä">
            <a:extLst>
              <a:ext uri="{FF2B5EF4-FFF2-40B4-BE49-F238E27FC236}">
                <a16:creationId xmlns:a16="http://schemas.microsoft.com/office/drawing/2014/main" id="{C9F6711A-CF81-91E2-CB54-6AD3283F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2" t="23003" r="-7" b="26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DBFCB27-760B-5FF3-72F5-581461CE1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999" cy="12801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320039" y="175146"/>
            <a:ext cx="8196432" cy="960120"/>
          </a:xfrm>
        </p:spPr>
        <p:txBody>
          <a:bodyPr anchor="ctr">
            <a:normAutofit/>
          </a:bodyPr>
          <a:lstStyle/>
          <a:p>
            <a:r>
              <a:rPr lang="fi-FI" sz="4400" dirty="0"/>
              <a:t>Pankkiautomaattiprojekti</a:t>
            </a:r>
            <a:endParaRPr lang="en-US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8597152" y="175146"/>
            <a:ext cx="3402123" cy="960120"/>
          </a:xfrm>
        </p:spPr>
        <p:txBody>
          <a:bodyPr anchor="ctr">
            <a:normAutofit/>
          </a:bodyPr>
          <a:lstStyle/>
          <a:p>
            <a:pPr algn="r"/>
            <a:r>
              <a:rPr lang="fi-FI" sz="1900"/>
              <a:t>TVT25KMO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7D2B4A46-C18D-42FC-37E7-D14CE7396A82}"/>
              </a:ext>
            </a:extLst>
          </p:cNvPr>
          <p:cNvSpPr txBox="1"/>
          <p:nvPr/>
        </p:nvSpPr>
        <p:spPr>
          <a:xfrm>
            <a:off x="1128045" y="1991170"/>
            <a:ext cx="78108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3200" dirty="0"/>
              <a:t>Ryhmä 3</a:t>
            </a:r>
          </a:p>
          <a:p>
            <a:endParaRPr lang="fi-FI" sz="3200" dirty="0"/>
          </a:p>
          <a:p>
            <a:r>
              <a:rPr lang="fi-FI" sz="3200" dirty="0"/>
              <a:t>Matti </a:t>
            </a:r>
            <a:r>
              <a:rPr lang="fi-FI" sz="3200" dirty="0" err="1"/>
              <a:t>Rundelin</a:t>
            </a:r>
            <a:endParaRPr lang="fi-FI" sz="3200" dirty="0"/>
          </a:p>
          <a:p>
            <a:r>
              <a:rPr lang="fi-FI" sz="3200" dirty="0" err="1"/>
              <a:t>Sander</a:t>
            </a:r>
            <a:r>
              <a:rPr lang="fi-FI" sz="3200" dirty="0"/>
              <a:t> </a:t>
            </a:r>
            <a:r>
              <a:rPr lang="fi-FI" sz="3200" dirty="0" err="1"/>
              <a:t>Vassel</a:t>
            </a:r>
            <a:endParaRPr lang="fi-FI" sz="3200" dirty="0"/>
          </a:p>
          <a:p>
            <a:r>
              <a:rPr lang="fi-FI" sz="3200" dirty="0"/>
              <a:t>Riku Ängeslevä</a:t>
            </a:r>
          </a:p>
          <a:p>
            <a:r>
              <a:rPr lang="fi-FI" sz="3200" dirty="0"/>
              <a:t>Jermu Huttunen</a:t>
            </a:r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F346-B588-09CA-7A6E-5192EB4E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tavoitteet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3B644-6385-BCC5-9248-164B684DA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Toteuttaa</a:t>
            </a:r>
            <a:r>
              <a:rPr lang="en-US"/>
              <a:t> </a:t>
            </a:r>
            <a:r>
              <a:rPr lang="en-US" err="1"/>
              <a:t>asiakkaalle</a:t>
            </a:r>
            <a:r>
              <a:rPr lang="en-US"/>
              <a:t> </a:t>
            </a:r>
            <a:r>
              <a:rPr lang="en-US" err="1"/>
              <a:t>pankkiautomaattisovellus</a:t>
            </a:r>
            <a:r>
              <a:rPr lang="en-US"/>
              <a:t>.</a:t>
            </a:r>
          </a:p>
          <a:p>
            <a:r>
              <a:rPr lang="en-US" err="1"/>
              <a:t>Työskentely</a:t>
            </a:r>
            <a:r>
              <a:rPr lang="en-US"/>
              <a:t> 4-hengen </a:t>
            </a:r>
            <a:r>
              <a:rPr lang="en-US" err="1"/>
              <a:t>ryhmässä</a:t>
            </a:r>
            <a:r>
              <a:rPr lang="en-US"/>
              <a:t> ja </a:t>
            </a:r>
            <a:r>
              <a:rPr lang="en-US" err="1"/>
              <a:t>myös</a:t>
            </a:r>
            <a:r>
              <a:rPr lang="en-US"/>
              <a:t> </a:t>
            </a:r>
            <a:r>
              <a:rPr lang="en-US" err="1"/>
              <a:t>sujuva</a:t>
            </a:r>
            <a:r>
              <a:rPr lang="en-US"/>
              <a:t> </a:t>
            </a:r>
            <a:r>
              <a:rPr lang="en-US" err="1"/>
              <a:t>itsenäinen</a:t>
            </a:r>
            <a:r>
              <a:rPr lang="en-US"/>
              <a:t> </a:t>
            </a:r>
            <a:r>
              <a:rPr lang="en-US" err="1"/>
              <a:t>työskentely</a:t>
            </a:r>
            <a:r>
              <a:rPr lang="en-US"/>
              <a:t>.</a:t>
            </a:r>
          </a:p>
          <a:p>
            <a:r>
              <a:rPr lang="en-US" err="1"/>
              <a:t>Laadukkaan</a:t>
            </a:r>
            <a:r>
              <a:rPr lang="en-US"/>
              <a:t> </a:t>
            </a:r>
            <a:r>
              <a:rPr lang="en-US" err="1"/>
              <a:t>dokumentoinnin</a:t>
            </a:r>
            <a:r>
              <a:rPr lang="en-US"/>
              <a:t> </a:t>
            </a:r>
            <a:r>
              <a:rPr lang="en-US" err="1"/>
              <a:t>esittäminen</a:t>
            </a:r>
            <a:r>
              <a:rPr lang="en-US"/>
              <a:t> </a:t>
            </a:r>
            <a:r>
              <a:rPr lang="en-US" err="1"/>
              <a:t>kirjallisesti</a:t>
            </a:r>
            <a:r>
              <a:rPr lang="en-US"/>
              <a:t> </a:t>
            </a:r>
            <a:r>
              <a:rPr lang="en-US" err="1"/>
              <a:t>sekä</a:t>
            </a:r>
            <a:r>
              <a:rPr lang="en-US"/>
              <a:t> </a:t>
            </a:r>
            <a:r>
              <a:rPr lang="en-US" err="1"/>
              <a:t>suullisesti</a:t>
            </a:r>
            <a:r>
              <a:rPr lang="en-US"/>
              <a:t>.</a:t>
            </a:r>
          </a:p>
          <a:p>
            <a:r>
              <a:rPr lang="en-US" err="1"/>
              <a:t>Osata</a:t>
            </a:r>
            <a:r>
              <a:rPr lang="en-US"/>
              <a:t> </a:t>
            </a:r>
            <a:r>
              <a:rPr lang="en-US" err="1"/>
              <a:t>suunnitella</a:t>
            </a:r>
            <a:r>
              <a:rPr lang="en-US"/>
              <a:t> ja </a:t>
            </a:r>
            <a:r>
              <a:rPr lang="en-US" err="1"/>
              <a:t>toteuttaa</a:t>
            </a:r>
            <a:r>
              <a:rPr lang="en-US"/>
              <a:t> </a:t>
            </a:r>
            <a:r>
              <a:rPr lang="en-US" err="1"/>
              <a:t>oliopohjaisen</a:t>
            </a:r>
            <a:r>
              <a:rPr lang="en-US"/>
              <a:t> </a:t>
            </a:r>
            <a:r>
              <a:rPr lang="en-US" err="1"/>
              <a:t>sovelluksen</a:t>
            </a:r>
            <a:r>
              <a:rPr lang="en-US"/>
              <a:t> </a:t>
            </a:r>
            <a:r>
              <a:rPr lang="en-US" err="1"/>
              <a:t>luokkakirjaston</a:t>
            </a:r>
            <a:r>
              <a:rPr lang="en-US"/>
              <a:t> </a:t>
            </a:r>
            <a:r>
              <a:rPr lang="en-US" err="1"/>
              <a:t>mukaisesti</a:t>
            </a:r>
            <a:r>
              <a:rPr lang="en-US"/>
              <a:t>.</a:t>
            </a:r>
          </a:p>
          <a:p>
            <a:r>
              <a:rPr lang="en-US" err="1"/>
              <a:t>Tietokannan</a:t>
            </a:r>
            <a:r>
              <a:rPr lang="en-US"/>
              <a:t> </a:t>
            </a:r>
            <a:r>
              <a:rPr lang="en-US" err="1"/>
              <a:t>suunnittelu</a:t>
            </a:r>
            <a:r>
              <a:rPr lang="en-US"/>
              <a:t> ja </a:t>
            </a:r>
            <a:r>
              <a:rPr lang="en-US" err="1"/>
              <a:t>toteutus</a:t>
            </a:r>
            <a:r>
              <a:rPr lang="en-US"/>
              <a:t>. </a:t>
            </a:r>
            <a:r>
              <a:rPr lang="en-US" err="1"/>
              <a:t>Myös</a:t>
            </a:r>
            <a:r>
              <a:rPr lang="en-US"/>
              <a:t> </a:t>
            </a:r>
            <a:r>
              <a:rPr lang="en-US" err="1"/>
              <a:t>muokkaaminen</a:t>
            </a:r>
            <a:r>
              <a:rPr lang="en-US"/>
              <a:t> </a:t>
            </a:r>
            <a:r>
              <a:rPr lang="en-US" err="1"/>
              <a:t>tarvittaessa</a:t>
            </a:r>
            <a:r>
              <a:rPr lang="en-US"/>
              <a:t> </a:t>
            </a:r>
            <a:r>
              <a:rPr lang="en-US" err="1"/>
              <a:t>projektin</a:t>
            </a:r>
            <a:r>
              <a:rPr lang="en-US"/>
              <a:t> </a:t>
            </a:r>
            <a:r>
              <a:rPr lang="en-US" err="1"/>
              <a:t>edetessä</a:t>
            </a:r>
            <a:r>
              <a:rPr lang="en-US"/>
              <a:t>.</a:t>
            </a:r>
          </a:p>
          <a:p>
            <a:r>
              <a:rPr lang="en-US" err="1"/>
              <a:t>Ohjelmistokehityksen</a:t>
            </a:r>
            <a:r>
              <a:rPr lang="en-US"/>
              <a:t> </a:t>
            </a:r>
            <a:r>
              <a:rPr lang="en-US" err="1"/>
              <a:t>vaihejakomallin</a:t>
            </a:r>
            <a:r>
              <a:rPr lang="en-US"/>
              <a:t>  </a:t>
            </a:r>
            <a:r>
              <a:rPr lang="en-US" err="1"/>
              <a:t>perusvaiheiden</a:t>
            </a:r>
            <a:r>
              <a:rPr lang="en-US"/>
              <a:t> </a:t>
            </a:r>
            <a:r>
              <a:rPr lang="en-US" err="1"/>
              <a:t>tunnistaminen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98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BF4E1-0AD0-FA1A-3787-DCBDEEFF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34456" cy="1068278"/>
          </a:xfrm>
        </p:spPr>
        <p:txBody>
          <a:bodyPr>
            <a:normAutofit/>
          </a:bodyPr>
          <a:lstStyle/>
          <a:p>
            <a:r>
              <a:rPr lang="en-US" dirty="0" err="1"/>
              <a:t>Projektin</a:t>
            </a:r>
            <a:r>
              <a:rPr lang="en-US" dirty="0"/>
              <a:t> </a:t>
            </a:r>
            <a:r>
              <a:rPr lang="en-US" dirty="0" err="1"/>
              <a:t>tekijät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8E81FF6B-5E42-BBD2-1618-FDB30324E4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626815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orakulmio 2">
            <a:extLst>
              <a:ext uri="{FF2B5EF4-FFF2-40B4-BE49-F238E27FC236}">
                <a16:creationId xmlns:a16="http://schemas.microsoft.com/office/drawing/2014/main" id="{92E39653-C532-6AA7-30EC-0522140AC51B}"/>
              </a:ext>
            </a:extLst>
          </p:cNvPr>
          <p:cNvSpPr/>
          <p:nvPr/>
        </p:nvSpPr>
        <p:spPr>
          <a:xfrm>
            <a:off x="517870" y="1909274"/>
            <a:ext cx="4858802" cy="37548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fi-FI" sz="1400" b="1" dirty="0"/>
              <a:t>Riku - #angesri</a:t>
            </a:r>
          </a:p>
          <a:p>
            <a:r>
              <a:rPr lang="fi-FI" sz="1400" dirty="0" err="1"/>
              <a:t>Backend</a:t>
            </a:r>
            <a:r>
              <a:rPr lang="fi-FI" sz="1400" dirty="0"/>
              <a:t>, CRUD-operaatiot, </a:t>
            </a:r>
            <a:r>
              <a:rPr lang="fi-FI" sz="1400" dirty="0" err="1"/>
              <a:t>Qt</a:t>
            </a:r>
            <a:r>
              <a:rPr lang="fi-FI" sz="1400" dirty="0"/>
              <a:t>-sovelluksen saldo ja asiakastiedot osio.</a:t>
            </a:r>
          </a:p>
          <a:p>
            <a:endParaRPr lang="fi-FI" sz="1400" dirty="0"/>
          </a:p>
          <a:p>
            <a:r>
              <a:rPr lang="fi-FI" sz="1400" b="1" dirty="0"/>
              <a:t>Jermu - #Jermu0</a:t>
            </a:r>
          </a:p>
          <a:p>
            <a:r>
              <a:rPr lang="fi-FI" sz="1400" dirty="0" err="1"/>
              <a:t>Backend</a:t>
            </a:r>
            <a:r>
              <a:rPr lang="fi-FI" sz="1400" dirty="0"/>
              <a:t>, CRUD-operaatiot, </a:t>
            </a:r>
            <a:r>
              <a:rPr lang="fi-FI" sz="1400" dirty="0" err="1"/>
              <a:t>Qt</a:t>
            </a:r>
            <a:r>
              <a:rPr lang="fi-FI" sz="1400" dirty="0"/>
              <a:t>-sovelluksen tilitapahtumat osio.</a:t>
            </a:r>
          </a:p>
          <a:p>
            <a:endParaRPr lang="fi-FI" sz="1400" dirty="0"/>
          </a:p>
          <a:p>
            <a:r>
              <a:rPr lang="fi-FI" sz="1400" b="1" dirty="0"/>
              <a:t>Matti - #Kealerator</a:t>
            </a:r>
          </a:p>
          <a:p>
            <a:r>
              <a:rPr lang="fi-FI" sz="1400" dirty="0" err="1"/>
              <a:t>Backend</a:t>
            </a:r>
            <a:r>
              <a:rPr lang="fi-FI" sz="1400" dirty="0"/>
              <a:t>, CRUD-operaatiot, </a:t>
            </a:r>
            <a:r>
              <a:rPr lang="fi-FI" sz="1400" dirty="0" err="1"/>
              <a:t>Qt</a:t>
            </a:r>
            <a:r>
              <a:rPr lang="fi-FI" sz="1400" dirty="0"/>
              <a:t>-sovelluksen </a:t>
            </a:r>
            <a:r>
              <a:rPr lang="fi-FI" sz="1400" dirty="0" err="1"/>
              <a:t>login</a:t>
            </a:r>
            <a:r>
              <a:rPr lang="fi-FI" sz="1400" dirty="0"/>
              <a:t> ja UI design.</a:t>
            </a:r>
          </a:p>
          <a:p>
            <a:endParaRPr lang="fi-FI" sz="1400" dirty="0"/>
          </a:p>
          <a:p>
            <a:r>
              <a:rPr lang="fi-FI" sz="1400" b="1" dirty="0" err="1"/>
              <a:t>Sander</a:t>
            </a:r>
            <a:r>
              <a:rPr lang="fi-FI" sz="1400" b="1" dirty="0"/>
              <a:t> - #SanderVee</a:t>
            </a:r>
          </a:p>
          <a:p>
            <a:r>
              <a:rPr lang="fi-FI" sz="1400" dirty="0" err="1"/>
              <a:t>Backend</a:t>
            </a:r>
            <a:r>
              <a:rPr lang="fi-FI" sz="1400" dirty="0"/>
              <a:t>, CRUD-operaatiot, </a:t>
            </a:r>
            <a:r>
              <a:rPr lang="fi-FI" sz="1400" dirty="0" err="1"/>
              <a:t>Qt</a:t>
            </a:r>
            <a:r>
              <a:rPr lang="fi-FI" sz="1400" dirty="0"/>
              <a:t>-sovelluksen nosto osio.</a:t>
            </a:r>
          </a:p>
          <a:p>
            <a:endParaRPr lang="fi-FI" sz="1400" dirty="0"/>
          </a:p>
          <a:p>
            <a:r>
              <a:rPr lang="fi-FI" sz="1400" b="1" dirty="0"/>
              <a:t>Jokainen projektin jäsen osallistui dokumentointiin ja projektinhallintaan</a:t>
            </a:r>
          </a:p>
        </p:txBody>
      </p:sp>
    </p:spTree>
    <p:extLst>
      <p:ext uri="{BB962C8B-B14F-4D97-AF65-F5344CB8AC3E}">
        <p14:creationId xmlns:p14="http://schemas.microsoft.com/office/powerpoint/2010/main" val="282223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DA24-B25F-0F54-9766-816C6305E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Hyvät</a:t>
            </a:r>
            <a:r>
              <a:rPr lang="en-US"/>
              <a:t> ja </a:t>
            </a:r>
            <a:r>
              <a:rPr lang="en-US" err="1"/>
              <a:t>huonot</a:t>
            </a:r>
            <a:r>
              <a:rPr lang="en-US"/>
              <a:t> </a:t>
            </a:r>
            <a:r>
              <a:rPr lang="en-US" err="1"/>
              <a:t>puolet</a:t>
            </a:r>
            <a:r>
              <a:rPr lang="en-US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AB2EB-680D-07B9-D270-5688D8A8C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Hyvät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27885-24F1-0AF3-F0C1-8B1E73A217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Ryhmätyöskentely</a:t>
            </a:r>
            <a:r>
              <a:rPr lang="en-US"/>
              <a:t> ja </a:t>
            </a:r>
            <a:r>
              <a:rPr lang="en-US" err="1"/>
              <a:t>tuki</a:t>
            </a:r>
            <a:r>
              <a:rPr lang="en-US"/>
              <a:t>.</a:t>
            </a:r>
          </a:p>
          <a:p>
            <a:r>
              <a:rPr lang="en-US"/>
              <a:t>Apua </a:t>
            </a:r>
            <a:r>
              <a:rPr lang="en-US" err="1"/>
              <a:t>oli</a:t>
            </a:r>
            <a:r>
              <a:rPr lang="en-US"/>
              <a:t> </a:t>
            </a:r>
            <a:r>
              <a:rPr lang="en-US" err="1"/>
              <a:t>tarjolla</a:t>
            </a:r>
          </a:p>
          <a:p>
            <a:r>
              <a:rPr lang="en-US" err="1"/>
              <a:t>Viikottaiset</a:t>
            </a:r>
            <a:r>
              <a:rPr lang="en-US"/>
              <a:t> </a:t>
            </a:r>
            <a:r>
              <a:rPr lang="en-US" err="1"/>
              <a:t>palaverit</a:t>
            </a:r>
            <a:r>
              <a:rPr lang="en-US"/>
              <a:t> </a:t>
            </a:r>
            <a:r>
              <a:rPr lang="en-US" err="1"/>
              <a:t>ohjaajan</a:t>
            </a:r>
            <a:r>
              <a:rPr lang="en-US"/>
              <a:t> </a:t>
            </a:r>
            <a:r>
              <a:rPr lang="en-US" err="1"/>
              <a:t>kanssa</a:t>
            </a:r>
            <a:r>
              <a:rPr lang="en-US"/>
              <a:t>.</a:t>
            </a:r>
          </a:p>
          <a:p>
            <a:r>
              <a:rPr lang="en-US" err="1"/>
              <a:t>Hyvää</a:t>
            </a:r>
            <a:r>
              <a:rPr lang="en-US"/>
              <a:t> </a:t>
            </a:r>
            <a:r>
              <a:rPr lang="en-US" err="1"/>
              <a:t>treeniä</a:t>
            </a:r>
            <a:r>
              <a:rPr lang="en-US"/>
              <a:t> </a:t>
            </a:r>
            <a:r>
              <a:rPr lang="en-US" err="1"/>
              <a:t>kanbanin</a:t>
            </a:r>
            <a:r>
              <a:rPr lang="en-US"/>
              <a:t> ja </a:t>
            </a:r>
            <a:r>
              <a:rPr lang="en-US" err="1"/>
              <a:t>gitin</a:t>
            </a:r>
            <a:r>
              <a:rPr lang="en-US"/>
              <a:t> </a:t>
            </a:r>
            <a:r>
              <a:rPr lang="en-US" err="1"/>
              <a:t>käyttöön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7D23A-6A7F-4FD5-A249-CC5FDDF65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err="1"/>
              <a:t>Huonot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849F3-478E-942A-6C44-E789CA9743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Aiheeseen</a:t>
            </a:r>
            <a:r>
              <a:rPr lang="en-US"/>
              <a:t> </a:t>
            </a:r>
            <a:r>
              <a:rPr lang="en-US" err="1"/>
              <a:t>liittyvät</a:t>
            </a:r>
            <a:r>
              <a:rPr lang="en-US"/>
              <a:t> </a:t>
            </a:r>
            <a:r>
              <a:rPr lang="en-US" err="1"/>
              <a:t>luennot</a:t>
            </a:r>
            <a:r>
              <a:rPr lang="en-US"/>
              <a:t> </a:t>
            </a:r>
            <a:r>
              <a:rPr lang="en-US" err="1"/>
              <a:t>olivat</a:t>
            </a:r>
            <a:r>
              <a:rPr lang="en-US"/>
              <a:t> </a:t>
            </a:r>
            <a:r>
              <a:rPr lang="en-US" err="1"/>
              <a:t>projektin</a:t>
            </a:r>
            <a:r>
              <a:rPr lang="en-US"/>
              <a:t> </a:t>
            </a:r>
            <a:r>
              <a:rPr lang="en-US" err="1"/>
              <a:t>alussa</a:t>
            </a:r>
            <a:r>
              <a:rPr lang="en-US"/>
              <a:t> ja </a:t>
            </a:r>
            <a:r>
              <a:rPr lang="en-US" err="1"/>
              <a:t>melkeimpä</a:t>
            </a:r>
            <a:r>
              <a:rPr lang="en-US"/>
              <a:t> </a:t>
            </a:r>
            <a:r>
              <a:rPr lang="en-US" err="1"/>
              <a:t>jäivät</a:t>
            </a:r>
            <a:r>
              <a:rPr lang="en-US"/>
              <a:t> </a:t>
            </a:r>
            <a:r>
              <a:rPr lang="en-US" err="1"/>
              <a:t>siihet</a:t>
            </a:r>
            <a:r>
              <a:rPr lang="en-US"/>
              <a:t>.</a:t>
            </a:r>
          </a:p>
          <a:p>
            <a:r>
              <a:rPr lang="en-US" err="1"/>
              <a:t>Neljän</a:t>
            </a:r>
            <a:r>
              <a:rPr lang="en-US"/>
              <a:t> </a:t>
            </a:r>
            <a:r>
              <a:rPr lang="en-US" err="1"/>
              <a:t>tunnin</a:t>
            </a:r>
            <a:r>
              <a:rPr lang="en-US"/>
              <a:t> </a:t>
            </a:r>
            <a:r>
              <a:rPr lang="en-US" err="1"/>
              <a:t>luennot</a:t>
            </a:r>
            <a:r>
              <a:rPr lang="en-US"/>
              <a:t> </a:t>
            </a:r>
            <a:r>
              <a:rPr lang="en-US" err="1"/>
              <a:t>ovat</a:t>
            </a:r>
            <a:r>
              <a:rPr lang="en-US"/>
              <a:t> </a:t>
            </a:r>
            <a:r>
              <a:rPr lang="en-US" err="1"/>
              <a:t>aivan</a:t>
            </a:r>
            <a:r>
              <a:rPr lang="en-US"/>
              <a:t> </a:t>
            </a:r>
            <a:r>
              <a:rPr lang="en-US" err="1"/>
              <a:t>liian</a:t>
            </a:r>
            <a:r>
              <a:rPr lang="en-US"/>
              <a:t> </a:t>
            </a:r>
            <a:r>
              <a:rPr lang="en-US" err="1"/>
              <a:t>pitkiä</a:t>
            </a:r>
            <a:r>
              <a:rPr lang="en-US"/>
              <a:t> </a:t>
            </a:r>
            <a:r>
              <a:rPr lang="en-US" err="1"/>
              <a:t>vetää</a:t>
            </a:r>
            <a:r>
              <a:rPr lang="en-US"/>
              <a:t> </a:t>
            </a:r>
            <a:r>
              <a:rPr lang="en-US" err="1"/>
              <a:t>putkeen</a:t>
            </a:r>
            <a:r>
              <a:rPr lang="en-US"/>
              <a:t>.</a:t>
            </a:r>
          </a:p>
          <a:p>
            <a:r>
              <a:rPr lang="en-US" err="1"/>
              <a:t>Projektin</a:t>
            </a:r>
            <a:r>
              <a:rPr lang="en-US"/>
              <a:t> </a:t>
            </a:r>
            <a:r>
              <a:rPr lang="en-US" err="1"/>
              <a:t>esimerkki</a:t>
            </a:r>
            <a:r>
              <a:rPr lang="en-US"/>
              <a:t> </a:t>
            </a:r>
            <a:r>
              <a:rPr lang="en-US" err="1"/>
              <a:t>ehkä</a:t>
            </a:r>
            <a:r>
              <a:rPr lang="en-US"/>
              <a:t> </a:t>
            </a:r>
            <a:r>
              <a:rPr lang="en-US" err="1"/>
              <a:t>liian</a:t>
            </a:r>
            <a:r>
              <a:rPr lang="en-US"/>
              <a:t> </a:t>
            </a:r>
            <a:r>
              <a:rPr lang="en-US" err="1"/>
              <a:t>pieni</a:t>
            </a:r>
            <a:r>
              <a:rPr lang="en-US"/>
              <a:t> </a:t>
            </a:r>
            <a:r>
              <a:rPr lang="en-US" err="1"/>
              <a:t>tukemaan</a:t>
            </a:r>
            <a:r>
              <a:rPr lang="en-US"/>
              <a:t> </a:t>
            </a:r>
            <a:r>
              <a:rPr lang="en-US" err="1"/>
              <a:t>pankkiautomaattisovellus</a:t>
            </a:r>
            <a:r>
              <a:rPr lang="en-US"/>
              <a:t> </a:t>
            </a:r>
            <a:r>
              <a:rPr lang="en-US" err="1"/>
              <a:t>projektia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81258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Laajakuva</PresentationFormat>
  <Paragraphs>44</Paragraphs>
  <Slides>4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4</vt:i4>
      </vt:variant>
    </vt:vector>
  </HeadingPairs>
  <TitlesOfParts>
    <vt:vector size="8" baseType="lpstr">
      <vt:lpstr>Aptos</vt:lpstr>
      <vt:lpstr>Arial</vt:lpstr>
      <vt:lpstr>Bierstadt</vt:lpstr>
      <vt:lpstr>GestaltVTI</vt:lpstr>
      <vt:lpstr>Pankkiautomaattiprojekti</vt:lpstr>
      <vt:lpstr>Projektin tavoitteet</vt:lpstr>
      <vt:lpstr>Projektin tekijät</vt:lpstr>
      <vt:lpstr>Hyvät ja huonot puolet.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Riku Ängeslevä</cp:lastModifiedBy>
  <cp:revision>4</cp:revision>
  <dcterms:created xsi:type="dcterms:W3CDTF">2026-02-20T12:56:49Z</dcterms:created>
  <dcterms:modified xsi:type="dcterms:W3CDTF">2026-02-24T17:21:09Z</dcterms:modified>
</cp:coreProperties>
</file>